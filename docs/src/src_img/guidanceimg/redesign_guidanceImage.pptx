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1" r:id="rId3"/>
    <p:sldId id="258" r:id="rId4"/>
    <p:sldId id="259" r:id="rId5"/>
    <p:sldId id="260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4F59"/>
    <a:srgbClr val="BF4949"/>
    <a:srgbClr val="9F3332"/>
    <a:srgbClr val="AE7351"/>
    <a:srgbClr val="ED4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46"/>
  </p:normalViewPr>
  <p:slideViewPr>
    <p:cSldViewPr snapToGrid="0">
      <p:cViewPr>
        <p:scale>
          <a:sx n="180" d="100"/>
          <a:sy n="180" d="100"/>
        </p:scale>
        <p:origin x="-2944" y="-2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C1746-89C7-3BCD-3553-31A2C6E5FB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D6F2E0-2467-4836-35AA-93355A96C9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853E9E-F5D6-C106-87AE-13613FFE6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7E6C-B71B-0746-8C67-4237547433A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B5A294-E3CF-7904-F89A-7BEF53BFD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A7248-5E2D-B295-940E-F500E99D1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43C34-5811-CD4F-A2BD-C8EB71FB22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4353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D2EE5-9251-20F9-2CCF-25CE9A631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69F670-860F-75A4-E97A-A1C9B3217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BA17C3-1333-1C94-D213-AE73FB6D0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7E6C-B71B-0746-8C67-4237547433A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B9910E-FAC4-08C1-6B8B-0E5BB0CAF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D08C0E-E7FB-A41C-27B4-29A361D5B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43C34-5811-CD4F-A2BD-C8EB71FB22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537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658F6-CC4D-8BC6-813D-57CFF3E87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20116C-50F7-C5DD-4B7C-23E6CD74D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1E54B-97B8-6636-4CA8-D0B8341CB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7E6C-B71B-0746-8C67-4237547433A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109544-5D38-CBE3-1F95-6E56A49F9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47288A-9365-A07B-686F-56AC79324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43C34-5811-CD4F-A2BD-C8EB71FB22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1872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A6774-9CB3-4260-6A80-8FCE51D7C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E735B2-6E22-8753-1DA7-0EEF6B68B2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CA04B2-0CD1-4AAD-B77C-2E6D467C0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FF1B9F-23DB-8721-97FC-60743E2F9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7E6C-B71B-0746-8C67-4237547433A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7A998A-D834-DBF8-76CC-CB384D290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1C7F8B-FA48-01CF-3E91-5E9A09703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43C34-5811-CD4F-A2BD-C8EB71FB22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2645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041F1-E5BB-4487-51FD-44D4DFB32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B3835-CDE5-E336-3797-65FBA6BE7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CE2A55-AFC5-9490-E1D9-15A8CD31F3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2D9A5A-70B4-F8C4-A30A-ECB8A69759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35C7F6-3722-9184-4B87-B06FBD483A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7920BA-8A77-2A94-08FA-34BC583A5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7E6C-B71B-0746-8C67-4237547433A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C38503-3AE6-619A-592A-31E0CF51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4F0013-C1AD-AABF-F7F5-3123C6929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43C34-5811-CD4F-A2BD-C8EB71FB22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2997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AE9EA-9308-E82D-8232-84E17CA99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EC67C8-1D2C-3C46-7DBB-B04AE53EF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7E6C-B71B-0746-8C67-4237547433A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7877C0-017B-32F4-C6CD-D0574478A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621C66-1975-B3F3-54B0-D80845EEC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43C34-5811-CD4F-A2BD-C8EB71FB22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318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E053DF-6B86-F3C7-6E79-2E1129FFC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7E6C-B71B-0746-8C67-4237547433A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E38A22-1648-00E7-3579-A9ACD1B3C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9A2982-C7EE-41F2-0D1C-1301C88A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43C34-5811-CD4F-A2BD-C8EB71FB22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409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E564A-7348-1F6F-DB86-3BC26EF89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77F0C-4B3B-6F28-0B0D-B1CC7859B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00757A-A889-6A0D-DB80-D2A37ADB78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03412B-97FE-43D3-BDFF-59B889E96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7E6C-B71B-0746-8C67-4237547433A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DCF949-744F-8E95-26CF-1BBCE062A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2AE8F3-B0DE-11CB-18D6-869616B1C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43C34-5811-CD4F-A2BD-C8EB71FB22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945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AD748-701E-4ADE-3EDC-CBA773A66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8593EC-5B45-EA73-F381-DF11B7C3A0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16F5E-5DFD-1754-51AA-F5872BCD5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EF62AE-CD37-D8AD-A9A7-DEA9DF872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7E6C-B71B-0746-8C67-4237547433A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D3CE8-AC55-9105-A9D9-ACFFA6FEF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3C1357-3B41-C4F1-2786-394CA1B10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43C34-5811-CD4F-A2BD-C8EB71FB22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6113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8CF02-92A2-36C2-18A2-3EAAE7A8F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91C259-3FC7-E284-4F51-DBCEA06CAC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90E5F-46EE-6D82-3A5A-655F7D6C0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7E6C-B71B-0746-8C67-4237547433A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99ACB-F0DD-56D4-4485-B893024C1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8FB8A-A977-1686-BBAD-CA2761787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43C34-5811-CD4F-A2BD-C8EB71FB22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0639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CE5352-5986-8859-4445-76CD7338C3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3E715E-A5AB-2B5D-8D1C-CB39E362E8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954E5B-6409-3353-2617-7D1822CBE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97E6C-B71B-0746-8C67-4237547433A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A55CA-9EC5-D3E5-6F49-96040B48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6302E-6039-35E8-EDA8-450C88D2D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43C34-5811-CD4F-A2BD-C8EB71FB22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5127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767904-1F9B-A7A1-C618-55140CD1A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0A73A5-2524-6F06-91AA-FCA5BBA374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0D1E5-92DA-6B6A-9606-E2139487BE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A97E6C-B71B-0746-8C67-4237547433A2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933C1A-1F60-644F-29A3-32EEEF594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222625-14B9-9AC8-3D5B-AEF4FAFB52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A43C34-5811-CD4F-A2BD-C8EB71FB22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0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CED2D-8CBD-5D83-A2BC-40BE8D433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7CC2496A-7810-FB6F-892A-86B2F5AF5613}"/>
              </a:ext>
            </a:extLst>
          </p:cNvPr>
          <p:cNvGrpSpPr/>
          <p:nvPr/>
        </p:nvGrpSpPr>
        <p:grpSpPr>
          <a:xfrm>
            <a:off x="3226730" y="2258511"/>
            <a:ext cx="5124979" cy="2447040"/>
            <a:chOff x="3226730" y="2258511"/>
            <a:chExt cx="5124979" cy="2447040"/>
          </a:xfrm>
        </p:grpSpPr>
        <p:pic>
          <p:nvPicPr>
            <p:cNvPr id="5" name="Picture 4" descr="A diagram of a process&#10;&#10;AI-generated content may be incorrect.">
              <a:extLst>
                <a:ext uri="{FF2B5EF4-FFF2-40B4-BE49-F238E27FC236}">
                  <a16:creationId xmlns:a16="http://schemas.microsoft.com/office/drawing/2014/main" id="{BDD14500-85AE-A531-6D66-07450CC656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61722" b="27796"/>
            <a:stretch/>
          </p:blipFill>
          <p:spPr>
            <a:xfrm>
              <a:off x="3226730" y="2258511"/>
              <a:ext cx="2571665" cy="2310809"/>
            </a:xfrm>
            <a:prstGeom prst="rect">
              <a:avLst/>
            </a:prstGeom>
          </p:spPr>
        </p:pic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5A872E9-AA39-75E4-C75E-C882492A651B}"/>
                </a:ext>
              </a:extLst>
            </p:cNvPr>
            <p:cNvSpPr/>
            <p:nvPr/>
          </p:nvSpPr>
          <p:spPr>
            <a:xfrm>
              <a:off x="6128793" y="2943446"/>
              <a:ext cx="971107" cy="971107"/>
            </a:xfrm>
            <a:prstGeom prst="ellipse">
              <a:avLst/>
            </a:prstGeom>
            <a:solidFill>
              <a:srgbClr val="9F3332"/>
            </a:solidFill>
            <a:ln>
              <a:solidFill>
                <a:srgbClr val="9F33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Step 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5BE68D1-B12C-6271-48D7-4DD24AC058CF}"/>
                </a:ext>
              </a:extLst>
            </p:cNvPr>
            <p:cNvSpPr/>
            <p:nvPr/>
          </p:nvSpPr>
          <p:spPr>
            <a:xfrm>
              <a:off x="7287657" y="2943446"/>
              <a:ext cx="971107" cy="971107"/>
            </a:xfrm>
            <a:prstGeom prst="ellipse">
              <a:avLst/>
            </a:prstGeom>
            <a:solidFill>
              <a:srgbClr val="9F3332"/>
            </a:solidFill>
            <a:ln>
              <a:solidFill>
                <a:srgbClr val="9F33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Step 2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7FEECFF-733E-034D-8AEB-90F91BB40C19}"/>
                </a:ext>
              </a:extLst>
            </p:cNvPr>
            <p:cNvSpPr txBox="1"/>
            <p:nvPr/>
          </p:nvSpPr>
          <p:spPr>
            <a:xfrm>
              <a:off x="6709891" y="2433779"/>
              <a:ext cx="971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Phase 1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097B9B6-9B57-F6A5-CA82-FA6C6EB128F2}"/>
                </a:ext>
              </a:extLst>
            </p:cNvPr>
            <p:cNvSpPr txBox="1"/>
            <p:nvPr/>
          </p:nvSpPr>
          <p:spPr>
            <a:xfrm>
              <a:off x="6028220" y="4064813"/>
              <a:ext cx="11580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dirty="0"/>
                <a:t>Gather historical data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379E3A-E355-0C02-5CB3-4740A10CADDD}"/>
                </a:ext>
              </a:extLst>
            </p:cNvPr>
            <p:cNvSpPr txBox="1"/>
            <p:nvPr/>
          </p:nvSpPr>
          <p:spPr>
            <a:xfrm>
              <a:off x="7193633" y="4059220"/>
              <a:ext cx="115807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dirty="0"/>
                <a:t>Create synthetic catalogue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6964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F1E4F-A94D-071C-6CED-6F8B265D2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DA34B94-FE77-518D-FC1B-8A80D935DF15}"/>
              </a:ext>
            </a:extLst>
          </p:cNvPr>
          <p:cNvGrpSpPr/>
          <p:nvPr/>
        </p:nvGrpSpPr>
        <p:grpSpPr>
          <a:xfrm>
            <a:off x="3141349" y="2275367"/>
            <a:ext cx="6406569" cy="2799516"/>
            <a:chOff x="3141349" y="2275367"/>
            <a:chExt cx="6406569" cy="2799516"/>
          </a:xfrm>
        </p:grpSpPr>
        <p:pic>
          <p:nvPicPr>
            <p:cNvPr id="7" name="Picture 6" descr="A diagram of steps and steps&#10;&#10;AI-generated content may be incorrect.">
              <a:extLst>
                <a:ext uri="{FF2B5EF4-FFF2-40B4-BE49-F238E27FC236}">
                  <a16:creationId xmlns:a16="http://schemas.microsoft.com/office/drawing/2014/main" id="{8FB5716B-1DEE-18DC-0153-BD1D5A441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986" r="53565" b="20835"/>
            <a:stretch/>
          </p:blipFill>
          <p:spPr>
            <a:xfrm>
              <a:off x="3141349" y="2275367"/>
              <a:ext cx="2677337" cy="2339164"/>
            </a:xfrm>
            <a:prstGeom prst="rect">
              <a:avLst/>
            </a:prstGeom>
          </p:spPr>
        </p:pic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BE1BF06-3F70-9E27-B71B-560C42257EFA}"/>
                </a:ext>
              </a:extLst>
            </p:cNvPr>
            <p:cNvSpPr/>
            <p:nvPr/>
          </p:nvSpPr>
          <p:spPr>
            <a:xfrm>
              <a:off x="6095999" y="2943446"/>
              <a:ext cx="972000" cy="971107"/>
            </a:xfrm>
            <a:prstGeom prst="ellipse">
              <a:avLst/>
            </a:prstGeom>
            <a:solidFill>
              <a:srgbClr val="ED4F1F"/>
            </a:solidFill>
            <a:ln>
              <a:solidFill>
                <a:srgbClr val="ED4F1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Step 3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B327020-E64B-742E-EAA2-052651F94707}"/>
                </a:ext>
              </a:extLst>
            </p:cNvPr>
            <p:cNvSpPr/>
            <p:nvPr/>
          </p:nvSpPr>
          <p:spPr>
            <a:xfrm>
              <a:off x="7283067" y="2943446"/>
              <a:ext cx="971107" cy="971107"/>
            </a:xfrm>
            <a:prstGeom prst="ellipse">
              <a:avLst/>
            </a:prstGeom>
            <a:solidFill>
              <a:srgbClr val="ED4F1F"/>
            </a:solidFill>
            <a:ln>
              <a:solidFill>
                <a:srgbClr val="ED4F1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Step 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18B16CC-EC3A-1C3F-C33C-D064F5889403}"/>
                </a:ext>
              </a:extLst>
            </p:cNvPr>
            <p:cNvSpPr/>
            <p:nvPr/>
          </p:nvSpPr>
          <p:spPr>
            <a:xfrm>
              <a:off x="8469242" y="2943446"/>
              <a:ext cx="971107" cy="971107"/>
            </a:xfrm>
            <a:prstGeom prst="ellipse">
              <a:avLst/>
            </a:prstGeom>
            <a:solidFill>
              <a:srgbClr val="ED4F1F"/>
            </a:solidFill>
            <a:ln>
              <a:solidFill>
                <a:srgbClr val="ED4F1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Step 5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6C688391-59F6-2091-A4FD-F0E36642AB7D}"/>
                </a:ext>
              </a:extLst>
            </p:cNvPr>
            <p:cNvSpPr txBox="1"/>
            <p:nvPr/>
          </p:nvSpPr>
          <p:spPr>
            <a:xfrm>
              <a:off x="7282433" y="2426588"/>
              <a:ext cx="971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Phase 2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EB9F0C9-F8F3-0AE9-1BBA-31DF79D8CDC9}"/>
                </a:ext>
              </a:extLst>
            </p:cNvPr>
            <p:cNvSpPr txBox="1"/>
            <p:nvPr/>
          </p:nvSpPr>
          <p:spPr>
            <a:xfrm>
              <a:off x="6028220" y="4064813"/>
              <a:ext cx="115807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dirty="0"/>
                <a:t>Add simulated data to Risk Pooling Tool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75DD649-0D60-03DE-492C-2F1B524BA12A}"/>
                </a:ext>
              </a:extLst>
            </p:cNvPr>
            <p:cNvSpPr txBox="1"/>
            <p:nvPr/>
          </p:nvSpPr>
          <p:spPr>
            <a:xfrm>
              <a:off x="7193633" y="4059220"/>
              <a:ext cx="1158076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dirty="0"/>
                <a:t>Select countries and perils to include in risk pool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6237849-2CD2-F80F-3E21-6AA0F47A6898}"/>
                </a:ext>
              </a:extLst>
            </p:cNvPr>
            <p:cNvSpPr txBox="1"/>
            <p:nvPr/>
          </p:nvSpPr>
          <p:spPr>
            <a:xfrm>
              <a:off x="8389842" y="4071106"/>
              <a:ext cx="115807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dirty="0"/>
                <a:t>Set risk pool risk pool layers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8437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3864E-B40A-0CC4-34F6-07BC40268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4FB0F79C-3646-B32F-9F26-35175F338988}"/>
              </a:ext>
            </a:extLst>
          </p:cNvPr>
          <p:cNvGrpSpPr/>
          <p:nvPr/>
        </p:nvGrpSpPr>
        <p:grpSpPr>
          <a:xfrm>
            <a:off x="3197184" y="2393224"/>
            <a:ext cx="5154525" cy="2687252"/>
            <a:chOff x="3197184" y="2393224"/>
            <a:chExt cx="5154525" cy="2687252"/>
          </a:xfrm>
        </p:grpSpPr>
        <p:pic>
          <p:nvPicPr>
            <p:cNvPr id="2" name="Picture 1" descr="A diagram of steps to a cost-effective business&#10;&#10;AI-generated content may be incorrect.">
              <a:extLst>
                <a:ext uri="{FF2B5EF4-FFF2-40B4-BE49-F238E27FC236}">
                  <a16:creationId xmlns:a16="http://schemas.microsoft.com/office/drawing/2014/main" id="{1B68C1D3-9CF9-B505-1348-5056B9FCF8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035" r="48594" b="17339"/>
            <a:stretch/>
          </p:blipFill>
          <p:spPr>
            <a:xfrm>
              <a:off x="3197184" y="2393224"/>
              <a:ext cx="2651385" cy="2128256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F3203AB-EB93-5BC8-49ED-63F945DE76EB}"/>
                </a:ext>
              </a:extLst>
            </p:cNvPr>
            <p:cNvSpPr txBox="1"/>
            <p:nvPr/>
          </p:nvSpPr>
          <p:spPr>
            <a:xfrm>
              <a:off x="6709891" y="2433779"/>
              <a:ext cx="971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Phase 3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CD6665F-8574-1E22-64D8-9DBF806790D2}"/>
                </a:ext>
              </a:extLst>
            </p:cNvPr>
            <p:cNvSpPr txBox="1"/>
            <p:nvPr/>
          </p:nvSpPr>
          <p:spPr>
            <a:xfrm>
              <a:off x="6028220" y="4064813"/>
              <a:ext cx="1158076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dirty="0"/>
                <a:t>Review funding coverage for each country-risk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C2A4EF5-BF04-7F3F-D537-8FB9B0CB3A2C}"/>
                </a:ext>
              </a:extLst>
            </p:cNvPr>
            <p:cNvSpPr txBox="1"/>
            <p:nvPr/>
          </p:nvSpPr>
          <p:spPr>
            <a:xfrm>
              <a:off x="7193633" y="4059220"/>
              <a:ext cx="115807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dirty="0"/>
                <a:t>Check coverage vs. country needs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3A11337-5899-10D5-3013-92CACE913C1F}"/>
                </a:ext>
              </a:extLst>
            </p:cNvPr>
            <p:cNvSpPr/>
            <p:nvPr/>
          </p:nvSpPr>
          <p:spPr>
            <a:xfrm>
              <a:off x="6128793" y="2943446"/>
              <a:ext cx="971107" cy="971107"/>
            </a:xfrm>
            <a:prstGeom prst="ellipse">
              <a:avLst/>
            </a:prstGeom>
            <a:solidFill>
              <a:srgbClr val="AE7351"/>
            </a:solidFill>
            <a:ln>
              <a:solidFill>
                <a:srgbClr val="AE73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Step 6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A845D82-EEEF-39C0-8DB6-BA8187547E41}"/>
                </a:ext>
              </a:extLst>
            </p:cNvPr>
            <p:cNvSpPr/>
            <p:nvPr/>
          </p:nvSpPr>
          <p:spPr>
            <a:xfrm>
              <a:off x="7287657" y="2943446"/>
              <a:ext cx="971107" cy="971107"/>
            </a:xfrm>
            <a:prstGeom prst="ellipse">
              <a:avLst/>
            </a:prstGeom>
            <a:solidFill>
              <a:srgbClr val="AE7351"/>
            </a:solidFill>
            <a:ln>
              <a:solidFill>
                <a:srgbClr val="AE73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Step 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7370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D9B63-0184-597C-502A-BEA5683F4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DD0AA9FD-EF26-F91F-54B4-CEA094AD01E3}"/>
              </a:ext>
            </a:extLst>
          </p:cNvPr>
          <p:cNvGrpSpPr/>
          <p:nvPr/>
        </p:nvGrpSpPr>
        <p:grpSpPr>
          <a:xfrm>
            <a:off x="3365710" y="2398471"/>
            <a:ext cx="4985999" cy="2312673"/>
            <a:chOff x="3365710" y="2398471"/>
            <a:chExt cx="4985999" cy="2312673"/>
          </a:xfrm>
        </p:grpSpPr>
        <p:pic>
          <p:nvPicPr>
            <p:cNvPr id="33" name="Picture 32" descr="A diagram of steps and steps&#10;&#10;AI-generated content may be incorrect.">
              <a:extLst>
                <a:ext uri="{FF2B5EF4-FFF2-40B4-BE49-F238E27FC236}">
                  <a16:creationId xmlns:a16="http://schemas.microsoft.com/office/drawing/2014/main" id="{B24357E5-61D7-E707-26A7-1E48059175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962" t="3548" r="49459" b="21148"/>
            <a:stretch/>
          </p:blipFill>
          <p:spPr>
            <a:xfrm>
              <a:off x="3365710" y="2398471"/>
              <a:ext cx="2474753" cy="2061056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633284A-714F-1058-976E-A04C60E5567B}"/>
                </a:ext>
              </a:extLst>
            </p:cNvPr>
            <p:cNvSpPr txBox="1"/>
            <p:nvPr/>
          </p:nvSpPr>
          <p:spPr>
            <a:xfrm>
              <a:off x="6709891" y="2433779"/>
              <a:ext cx="971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Phase 4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5FABAC2-8BEA-5BB1-D317-150B99719058}"/>
                </a:ext>
              </a:extLst>
            </p:cNvPr>
            <p:cNvSpPr txBox="1"/>
            <p:nvPr/>
          </p:nvSpPr>
          <p:spPr>
            <a:xfrm>
              <a:off x="6028220" y="4064813"/>
              <a:ext cx="115807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dirty="0"/>
                <a:t>Check total liability on the pool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28DB255-7482-1DBC-2738-137666507930}"/>
                </a:ext>
              </a:extLst>
            </p:cNvPr>
            <p:cNvSpPr txBox="1"/>
            <p:nvPr/>
          </p:nvSpPr>
          <p:spPr>
            <a:xfrm>
              <a:off x="7193633" y="4059220"/>
              <a:ext cx="115807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dirty="0"/>
                <a:t>Decide how much to retain or transfer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9D72538-6BC8-E579-8B15-1C366680BCF6}"/>
                </a:ext>
              </a:extLst>
            </p:cNvPr>
            <p:cNvSpPr/>
            <p:nvPr/>
          </p:nvSpPr>
          <p:spPr>
            <a:xfrm>
              <a:off x="6128793" y="2943446"/>
              <a:ext cx="971107" cy="971107"/>
            </a:xfrm>
            <a:prstGeom prst="ellipse">
              <a:avLst/>
            </a:prstGeom>
            <a:solidFill>
              <a:srgbClr val="BF4949"/>
            </a:solidFill>
            <a:ln>
              <a:solidFill>
                <a:srgbClr val="BF494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Step 8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1C0BE87-290E-FD7A-75BA-2C3FBC197AA0}"/>
                </a:ext>
              </a:extLst>
            </p:cNvPr>
            <p:cNvSpPr/>
            <p:nvPr/>
          </p:nvSpPr>
          <p:spPr>
            <a:xfrm>
              <a:off x="7287657" y="2943446"/>
              <a:ext cx="971107" cy="971107"/>
            </a:xfrm>
            <a:prstGeom prst="ellipse">
              <a:avLst/>
            </a:prstGeom>
            <a:solidFill>
              <a:srgbClr val="BF4949"/>
            </a:solidFill>
            <a:ln>
              <a:solidFill>
                <a:srgbClr val="BF494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Step 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435427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6F266-D1EE-4EB4-1204-4DE0B6D23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5109C9AA-3108-E5C6-1596-377CDC35D1F3}"/>
              </a:ext>
            </a:extLst>
          </p:cNvPr>
          <p:cNvGrpSpPr/>
          <p:nvPr/>
        </p:nvGrpSpPr>
        <p:grpSpPr>
          <a:xfrm>
            <a:off x="3362329" y="2426691"/>
            <a:ext cx="4989380" cy="2284453"/>
            <a:chOff x="3362329" y="2426691"/>
            <a:chExt cx="4989380" cy="2284453"/>
          </a:xfrm>
        </p:grpSpPr>
        <p:pic>
          <p:nvPicPr>
            <p:cNvPr id="35" name="Picture 34" descr="A diagram of a diagram&#10;&#10;AI-generated content may be incorrect.">
              <a:extLst>
                <a:ext uri="{FF2B5EF4-FFF2-40B4-BE49-F238E27FC236}">
                  <a16:creationId xmlns:a16="http://schemas.microsoft.com/office/drawing/2014/main" id="{8C2C1F0A-1B1B-C7E7-5F11-7617C238F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257" t="7202" r="49353" b="17571"/>
            <a:stretch/>
          </p:blipFill>
          <p:spPr>
            <a:xfrm>
              <a:off x="3362329" y="2426691"/>
              <a:ext cx="2391225" cy="2061056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3A1F5F8-0C50-B60D-ED3E-5FCA8AB1C581}"/>
                </a:ext>
              </a:extLst>
            </p:cNvPr>
            <p:cNvSpPr txBox="1"/>
            <p:nvPr/>
          </p:nvSpPr>
          <p:spPr>
            <a:xfrm>
              <a:off x="6709891" y="2433779"/>
              <a:ext cx="971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dirty="0"/>
                <a:t>Phase 5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4B4427D-E055-757D-7B7A-4DE2BBEE9972}"/>
                </a:ext>
              </a:extLst>
            </p:cNvPr>
            <p:cNvSpPr txBox="1"/>
            <p:nvPr/>
          </p:nvSpPr>
          <p:spPr>
            <a:xfrm>
              <a:off x="6028220" y="4064813"/>
              <a:ext cx="115807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dirty="0"/>
                <a:t>Adjust the financial structure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5BE281-7333-C77F-CB52-5CFE6D715A68}"/>
                </a:ext>
              </a:extLst>
            </p:cNvPr>
            <p:cNvSpPr txBox="1"/>
            <p:nvPr/>
          </p:nvSpPr>
          <p:spPr>
            <a:xfrm>
              <a:off x="7193633" y="4059220"/>
              <a:ext cx="11580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dirty="0"/>
                <a:t>Finalise and communicate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B76343E-0BBB-11F4-76DF-CCA00B00CA00}"/>
                </a:ext>
              </a:extLst>
            </p:cNvPr>
            <p:cNvSpPr/>
            <p:nvPr/>
          </p:nvSpPr>
          <p:spPr>
            <a:xfrm>
              <a:off x="6128793" y="2943446"/>
              <a:ext cx="971107" cy="971107"/>
            </a:xfrm>
            <a:prstGeom prst="ellipse">
              <a:avLst/>
            </a:prstGeom>
            <a:solidFill>
              <a:srgbClr val="4F4F59"/>
            </a:solidFill>
            <a:ln>
              <a:solidFill>
                <a:srgbClr val="4F4F5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Step 10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BBF3D4B-7838-42FB-ACF1-3A631F9CFB75}"/>
                </a:ext>
              </a:extLst>
            </p:cNvPr>
            <p:cNvSpPr/>
            <p:nvPr/>
          </p:nvSpPr>
          <p:spPr>
            <a:xfrm>
              <a:off x="7287657" y="2943446"/>
              <a:ext cx="971107" cy="971107"/>
            </a:xfrm>
            <a:prstGeom prst="ellipse">
              <a:avLst/>
            </a:prstGeom>
            <a:solidFill>
              <a:srgbClr val="4F4F59"/>
            </a:solidFill>
            <a:ln>
              <a:solidFill>
                <a:srgbClr val="4F4F5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Step 11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6751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0EF2E-30B0-7D29-62A7-147AB9DFF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4FCF934-CD6F-6DF8-DBFB-01F43BE5A11A}"/>
              </a:ext>
            </a:extLst>
          </p:cNvPr>
          <p:cNvGrpSpPr/>
          <p:nvPr/>
        </p:nvGrpSpPr>
        <p:grpSpPr>
          <a:xfrm>
            <a:off x="2623650" y="1928037"/>
            <a:ext cx="7772400" cy="4393095"/>
            <a:chOff x="2623650" y="1928037"/>
            <a:chExt cx="7772400" cy="4393095"/>
          </a:xfrm>
        </p:grpSpPr>
        <p:pic>
          <p:nvPicPr>
            <p:cNvPr id="22" name="Picture 21" descr="A diagram of a risk pooling tool&#10;&#10;AI-generated content may be incorrect.">
              <a:extLst>
                <a:ext uri="{FF2B5EF4-FFF2-40B4-BE49-F238E27FC236}">
                  <a16:creationId xmlns:a16="http://schemas.microsoft.com/office/drawing/2014/main" id="{D80E8289-C83B-9C0E-1CAF-985C785E8F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3650" y="1928037"/>
              <a:ext cx="7772400" cy="439309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8739CE8-E942-8926-AEF3-E99C93E572EF}"/>
                </a:ext>
              </a:extLst>
            </p:cNvPr>
            <p:cNvSpPr txBox="1"/>
            <p:nvPr/>
          </p:nvSpPr>
          <p:spPr>
            <a:xfrm>
              <a:off x="4175051" y="2126512"/>
              <a:ext cx="69281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 dirty="0">
                  <a:latin typeface="Calibri Light" panose="020F0302020204030204" pitchFamily="34" charset="0"/>
                  <a:cs typeface="Calibri Light" panose="020F0302020204030204" pitchFamily="34" charset="0"/>
                </a:rPr>
                <a:t>Country 1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1229385-7C0C-3583-BAF8-D997411DFDCB}"/>
                </a:ext>
              </a:extLst>
            </p:cNvPr>
            <p:cNvSpPr txBox="1"/>
            <p:nvPr/>
          </p:nvSpPr>
          <p:spPr>
            <a:xfrm>
              <a:off x="6631315" y="2003401"/>
              <a:ext cx="69281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 dirty="0">
                  <a:latin typeface="Calibri Light" panose="020F0302020204030204" pitchFamily="34" charset="0"/>
                  <a:cs typeface="Calibri Light" panose="020F0302020204030204" pitchFamily="34" charset="0"/>
                </a:rPr>
                <a:t>Country 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D9B71A8-ED40-CCD8-C0AF-A0AA9AE04A19}"/>
                </a:ext>
              </a:extLst>
            </p:cNvPr>
            <p:cNvSpPr txBox="1"/>
            <p:nvPr/>
          </p:nvSpPr>
          <p:spPr>
            <a:xfrm>
              <a:off x="2972752" y="4124584"/>
              <a:ext cx="69281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 dirty="0">
                  <a:latin typeface="Calibri Light" panose="020F0302020204030204" pitchFamily="34" charset="0"/>
                  <a:cs typeface="Calibri Light" panose="020F0302020204030204" pitchFamily="34" charset="0"/>
                </a:rPr>
                <a:t>Country 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20D7930-3AD6-BB86-5E8D-2EF8BCEABE9E}"/>
                </a:ext>
              </a:extLst>
            </p:cNvPr>
            <p:cNvSpPr txBox="1"/>
            <p:nvPr/>
          </p:nvSpPr>
          <p:spPr>
            <a:xfrm>
              <a:off x="4168255" y="5828690"/>
              <a:ext cx="69281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 dirty="0">
                  <a:latin typeface="Calibri Light" panose="020F0302020204030204" pitchFamily="34" charset="0"/>
                  <a:cs typeface="Calibri Light" panose="020F0302020204030204" pitchFamily="34" charset="0"/>
                </a:rPr>
                <a:t>Country 6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CBA36E6-7BEE-8007-4084-785C45B0795F}"/>
                </a:ext>
              </a:extLst>
            </p:cNvPr>
            <p:cNvSpPr txBox="1"/>
            <p:nvPr/>
          </p:nvSpPr>
          <p:spPr>
            <a:xfrm>
              <a:off x="7594145" y="6074911"/>
              <a:ext cx="69281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 dirty="0">
                  <a:latin typeface="Calibri Light" panose="020F0302020204030204" pitchFamily="34" charset="0"/>
                  <a:cs typeface="Calibri Light" panose="020F0302020204030204" pitchFamily="34" charset="0"/>
                </a:rPr>
                <a:t>Country 5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F5C4D3E-56E6-C44B-DB11-724F38AECE2A}"/>
                </a:ext>
              </a:extLst>
            </p:cNvPr>
            <p:cNvSpPr txBox="1"/>
            <p:nvPr/>
          </p:nvSpPr>
          <p:spPr>
            <a:xfrm>
              <a:off x="9388526" y="5631712"/>
              <a:ext cx="7216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 dirty="0">
                  <a:latin typeface="Calibri Light" panose="020F0302020204030204" pitchFamily="34" charset="0"/>
                  <a:cs typeface="Calibri Light" panose="020F0302020204030204" pitchFamily="34" charset="0"/>
                </a:rPr>
                <a:t>Country 4 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78D1CF3-2D44-9CB5-47FC-38FF7C6FC6E8}"/>
                </a:ext>
              </a:extLst>
            </p:cNvPr>
            <p:cNvSpPr txBox="1"/>
            <p:nvPr/>
          </p:nvSpPr>
          <p:spPr>
            <a:xfrm>
              <a:off x="9388526" y="2203547"/>
              <a:ext cx="7216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 dirty="0">
                  <a:latin typeface="Calibri Light" panose="020F0302020204030204" pitchFamily="34" charset="0"/>
                  <a:cs typeface="Calibri Light" panose="020F0302020204030204" pitchFamily="34" charset="0"/>
                </a:rPr>
                <a:t>Country 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1365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2413</TotalTime>
  <Words>106</Words>
  <Application>Microsoft Macintosh PowerPoint</Application>
  <PresentationFormat>Widescreen</PresentationFormat>
  <Paragraphs>34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Stuart A. Fraser</dc:creator>
  <cp:lastModifiedBy>Stuart A. Fraser</cp:lastModifiedBy>
  <cp:revision>1</cp:revision>
  <dcterms:created xsi:type="dcterms:W3CDTF">2025-10-20T13:39:58Z</dcterms:created>
  <dcterms:modified xsi:type="dcterms:W3CDTF">2025-10-22T05:53:13Z</dcterms:modified>
</cp:coreProperties>
</file>